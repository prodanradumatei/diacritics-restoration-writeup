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468d2dea64e3d" /><Relationship Type="http://schemas.openxmlformats.org/officeDocument/2006/relationships/extended-properties" Target="/docProps/app.xml" Id="Rd99d7c28fdee479e" /><Relationship Type="http://schemas.openxmlformats.org/officeDocument/2006/relationships/officeDocument" Target="/ppt/presentation.xml" Id="R22b9e88c57674e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6dc3becb44141"/>
  </p:sldMasterIdLst>
  <p:notesMasterIdLst>
    <p:notesMasterId xmlns:r="http://schemas.openxmlformats.org/officeDocument/2006/relationships" r:id="Rf372341b830c40f6"/>
  </p:notesMasterIdLst>
  <p:sldIdLst>
    <p:sldId xmlns:r="http://schemas.openxmlformats.org/officeDocument/2006/relationships" id="256" r:id="R42ecad692f1e4d39"/>
    <p:sldId xmlns:r="http://schemas.openxmlformats.org/officeDocument/2006/relationships" id="257" r:id="Rb1c7af4605154783"/>
    <p:sldId xmlns:r="http://schemas.openxmlformats.org/officeDocument/2006/relationships" id="258" r:id="Rddba9228195c4fd6"/>
    <p:sldId xmlns:r="http://schemas.openxmlformats.org/officeDocument/2006/relationships" id="259" r:id="Rd8123c3b487943eb"/>
    <p:sldId xmlns:r="http://schemas.openxmlformats.org/officeDocument/2006/relationships" id="260" r:id="Re1835a7daca14153"/>
    <p:sldId xmlns:r="http://schemas.openxmlformats.org/officeDocument/2006/relationships" id="261" r:id="Ref40505f69894930"/>
    <p:sldId xmlns:r="http://schemas.openxmlformats.org/officeDocument/2006/relationships" id="262" r:id="Rdc1eabd9be0d4fb2"/>
    <p:sldId xmlns:r="http://schemas.openxmlformats.org/officeDocument/2006/relationships" id="263" r:id="Rf7ef29c723b04467"/>
    <p:sldId xmlns:r="http://schemas.openxmlformats.org/officeDocument/2006/relationships" id="264" r:id="R581747d9e14e4d75"/>
    <p:sldId xmlns:r="http://schemas.openxmlformats.org/officeDocument/2006/relationships" id="265" r:id="R3bf7882c6b4f4420"/>
    <p:sldId xmlns:r="http://schemas.openxmlformats.org/officeDocument/2006/relationships" id="266" r:id="R46f77f55c0f14864"/>
    <p:sldId xmlns:r="http://schemas.openxmlformats.org/officeDocument/2006/relationships" id="267" r:id="R970bf431faa14bb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687d7d17f4a1e" /><Relationship Type="http://schemas.openxmlformats.org/officeDocument/2006/relationships/slideMaster" Target="/ppt/slideMasters/slideMaster1.xml" Id="R7176dc3becb44141" /><Relationship Type="http://schemas.openxmlformats.org/officeDocument/2006/relationships/notesMaster" Target="/ppt/notesMasters/notesMaster1.xml" Id="Rf372341b830c40f6" /><Relationship Type="http://schemas.openxmlformats.org/officeDocument/2006/relationships/presProps" Target="/ppt/presProps.xml" Id="R59ec29a766884f7b" /><Relationship Type="http://schemas.openxmlformats.org/officeDocument/2006/relationships/viewProps" Target="/ppt/viewProps.xml" Id="Rfaa2afd0300d4247" /><Relationship Type="http://schemas.openxmlformats.org/officeDocument/2006/relationships/tableStyles" Target="/ppt/tableStyles.xml" Id="R44dd7e9482cc45c2" /><Relationship Type="http://schemas.openxmlformats.org/officeDocument/2006/relationships/slide" Target="/ppt/slides/slide1.xml" Id="R42ecad692f1e4d39" /><Relationship Type="http://schemas.openxmlformats.org/officeDocument/2006/relationships/slide" Target="/ppt/slides/slide2.xml" Id="Rb1c7af4605154783" /><Relationship Type="http://schemas.openxmlformats.org/officeDocument/2006/relationships/slide" Target="/ppt/slides/slide3.xml" Id="Rddba9228195c4fd6" /><Relationship Type="http://schemas.openxmlformats.org/officeDocument/2006/relationships/slide" Target="/ppt/slides/slide4.xml" Id="Rd8123c3b487943eb" /><Relationship Type="http://schemas.openxmlformats.org/officeDocument/2006/relationships/slide" Target="/ppt/slides/slide5.xml" Id="Re1835a7daca14153" /><Relationship Type="http://schemas.openxmlformats.org/officeDocument/2006/relationships/slide" Target="/ppt/slides/slide6.xml" Id="Ref40505f69894930" /><Relationship Type="http://schemas.openxmlformats.org/officeDocument/2006/relationships/slide" Target="/ppt/slides/slide7.xml" Id="Rdc1eabd9be0d4fb2" /><Relationship Type="http://schemas.openxmlformats.org/officeDocument/2006/relationships/slide" Target="/ppt/slides/slide8.xml" Id="Rf7ef29c723b04467" /><Relationship Type="http://schemas.openxmlformats.org/officeDocument/2006/relationships/slide" Target="/ppt/slides/slide9.xml" Id="R581747d9e14e4d75" /><Relationship Type="http://schemas.openxmlformats.org/officeDocument/2006/relationships/slide" Target="/ppt/slides/slide10.xml" Id="R3bf7882c6b4f4420" /><Relationship Type="http://schemas.openxmlformats.org/officeDocument/2006/relationships/slide" Target="/ppt/slides/slide11.xml" Id="R46f77f55c0f14864" /><Relationship Type="http://schemas.openxmlformats.org/officeDocument/2006/relationships/slide" Target="/ppt/slides/slide12.xml" Id="R970bf431faa1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57a04c4551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9cce322dd84a51" /><Relationship Type="http://schemas.openxmlformats.org/officeDocument/2006/relationships/notesMaster" Target="/ppt/notesMasters/notesMaster1.xml" Id="Ra9fb397f0f75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6f70c306a944c0" /><Relationship Type="http://schemas.openxmlformats.org/officeDocument/2006/relationships/notesMaster" Target="/ppt/notesMasters/notesMaster1.xml" Id="R7fa065bbee884f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f0a6625c854ab5" /><Relationship Type="http://schemas.openxmlformats.org/officeDocument/2006/relationships/notesMaster" Target="/ppt/notesMasters/notesMaster1.xml" Id="Rfd1f96979f79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b73eeb419442b0" /><Relationship Type="http://schemas.openxmlformats.org/officeDocument/2006/relationships/notesMaster" Target="/ppt/notesMasters/notesMaster1.xml" Id="R481097b52a9f4a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23896ce2f44ebd" /><Relationship Type="http://schemas.openxmlformats.org/officeDocument/2006/relationships/notesMaster" Target="/ppt/notesMasters/notesMaster1.xml" Id="R9f9961dbd97944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8310e7c7c14899" /><Relationship Type="http://schemas.openxmlformats.org/officeDocument/2006/relationships/notesMaster" Target="/ppt/notesMasters/notesMaster1.xml" Id="Rbd0502ce0ffb41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b6ea4c49fe40be" /><Relationship Type="http://schemas.openxmlformats.org/officeDocument/2006/relationships/notesMaster" Target="/ppt/notesMasters/notesMaster1.xml" Id="R9399b7524ab648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286d7cc4aa4bf6" /><Relationship Type="http://schemas.openxmlformats.org/officeDocument/2006/relationships/notesMaster" Target="/ppt/notesMasters/notesMaster1.xml" Id="Rd99a1c8c7d8645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721f571845409b" /><Relationship Type="http://schemas.openxmlformats.org/officeDocument/2006/relationships/notesMaster" Target="/ppt/notesMasters/notesMaster1.xml" Id="Rf4519b7514a442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5838e31cab485d" /><Relationship Type="http://schemas.openxmlformats.org/officeDocument/2006/relationships/notesMaster" Target="/ppt/notesMasters/notesMaster1.xml" Id="R2ca7f3b7f3d540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961a7d7cfe4c4a" /><Relationship Type="http://schemas.openxmlformats.org/officeDocument/2006/relationships/notesMaster" Target="/ppt/notesMasters/notesMaster1.xml" Id="R7d79be53e22446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b503ab66c04254" /><Relationship Type="http://schemas.openxmlformats.org/officeDocument/2006/relationships/notesMaster" Target="/ppt/notesMasters/notesMaster1.xml" Id="R3131dee3cb9b4c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321bdb38a41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be5d1f95c49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b625c5d204c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c7f1a13a241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030d54e9c4b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5de8c894343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e5ba5178a4d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b7cf1112940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31c0afcd84a5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65beee5dd46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2947bb056406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E0C7C6-DC0E-4E33-A67C-ECC8BADB964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3D1A43C-9BEF-427E-A467-18C2043F9D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27059E-06FE-432F-A61D-73E2E9B94D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21E8EB-C52B-4A9A-B519-B31C22FA7B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FCA8DF-DA14-4344-A2A2-0DFDAF9FA3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28483A-CAEE-462E-8372-E5EBFED4A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51DF8F-9450-469E-916E-69D72BAE11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53BF64-7F4C-4968-A238-C36EF482C0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3D181F-BA65-444A-87C1-9E3460D867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7F91D0-1589-4758-883A-59A6F645B4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FCDE4E-7012-4F43-98DC-8230D43BB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851CA6-9AE6-4971-B250-E0836EB1D3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D4724D-9A26-43D2-B166-C05D7A91CB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E538B3-ECDE-4236-8F65-8FAB532AFD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DD03DF-896D-412B-B473-09407EFD07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22A1E4-258C-402B-8B29-58F45DB8F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47AD2D-0E64-4E76-A0EE-EB09B4C384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E0B12F-6296-4A88-A831-795342A5B2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45C12A-3332-44B3-B4D5-F1592F9013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DBD0D76-D68F-4057-8E58-968DB39EF9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C9E15C-ED3F-48E0-B8AB-2137B72C5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FAF04-21BB-4CDA-80EF-93674D6171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AEA73-E124-42A2-A44D-F2397B3B9B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3BC80A-86E7-4050-BBD3-ED49027EB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FEF27A3-79B6-4155-BBF0-01C8BAE7061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6CFA463-E767-40ED-AC11-4D0EF39867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086A9DE-3E7D-4998-8C8D-039D932014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ADDB15F-E2FF-4AF0-8E13-7D8DE2748F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FC8AF81-7498-407C-92A3-C43100F22C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574837-CDC2-4C65-AF8C-F3A279006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8E2F6BB-AB09-49C7-AAA1-D08CC16BE9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EDB1D89-20C9-4850-B689-E39FFEE54B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9AD29EC-2B95-4586-99E1-EFB92F81A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0BF26D-ADE4-4F68-9E16-71267FC710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218B943-C458-4504-985B-9C713DEEC6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B9CA788-5D6A-4A8C-9C32-A3CC1389E9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642140-B421-40B0-A6B6-19A0B9082D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F0F153-544C-4BDB-A1DE-1F13B6652E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6E36342-F605-4E40-BEAF-E9802D36FF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2EFA70-FA56-4C25-BA60-886F495E43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7B5CFE1-030F-4579-B4CA-91820F143F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710C911-C020-4C7E-8D58-DF887030F4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CB0C06-2EBE-4B0B-B19B-CEA80C53A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6922D10-926C-434C-8BFC-776BF6E797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E6B5835-838F-4669-A280-B5C9588156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D9ED0A5-F709-475B-9945-CC6A5B5B4B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14E738-958A-4A91-9BAB-7BAE4CE6F9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67496E7-7DFA-4AAC-BB08-8C9E0EC254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2389EA-FFB2-423D-A294-6E7455DA8C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9E85BE-1099-461B-AEF6-1C4C9C2889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076101-2388-47FA-B70F-0741CA8556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589750-DD41-4D8B-9BDC-FD446C4962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CDF328-247F-4A27-9934-1142FF9D8C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43C51A-CF05-4CF1-9CB8-6AE166671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8F9EAE-E4B3-423B-B772-52856C355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47BF0B-17A6-45CA-AC03-7689674BE5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4AF770-1DB8-4F69-BD72-EA07607F20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B21EA8-EBF1-40DC-BADC-4B8B0A8730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5eda7916f54d5f" /><Relationship Type="http://schemas.openxmlformats.org/officeDocument/2006/relationships/slideLayout" Target="/ppt/slideLayouts/slideLayout1.xml" Id="R20e8b8e9f30c45f9" /><Relationship Type="http://schemas.openxmlformats.org/officeDocument/2006/relationships/slideLayout" Target="/ppt/slideLayouts/slideLayout2.xml" Id="R704edd4dad234795" /><Relationship Type="http://schemas.openxmlformats.org/officeDocument/2006/relationships/slideLayout" Target="/ppt/slideLayouts/slideLayout3.xml" Id="R99b587e82e3b4ae5" /><Relationship Type="http://schemas.openxmlformats.org/officeDocument/2006/relationships/slideLayout" Target="/ppt/slideLayouts/slideLayout4.xml" Id="R7ec1b3d601994f34" /><Relationship Type="http://schemas.openxmlformats.org/officeDocument/2006/relationships/slideLayout" Target="/ppt/slideLayouts/slideLayout5.xml" Id="Ra4db60576078433e" /><Relationship Type="http://schemas.openxmlformats.org/officeDocument/2006/relationships/slideLayout" Target="/ppt/slideLayouts/slideLayout6.xml" Id="R06d6f0b821f548bb" /><Relationship Type="http://schemas.openxmlformats.org/officeDocument/2006/relationships/slideLayout" Target="/ppt/slideLayouts/slideLayout7.xml" Id="R4a62402c1a834efd" /><Relationship Type="http://schemas.openxmlformats.org/officeDocument/2006/relationships/slideLayout" Target="/ppt/slideLayouts/slideLayout8.xml" Id="R0162f98a8c264f91" /><Relationship Type="http://schemas.openxmlformats.org/officeDocument/2006/relationships/slideLayout" Target="/ppt/slideLayouts/slideLayout9.xml" Id="R1cb30a7b7f52472a" /><Relationship Type="http://schemas.openxmlformats.org/officeDocument/2006/relationships/slideLayout" Target="/ppt/slideLayouts/slideLayout10.xml" Id="Ra738997dcaed4a2a" /><Relationship Type="http://schemas.openxmlformats.org/officeDocument/2006/relationships/slideLayout" Target="/ppt/slideLayouts/slideLayout11.xml" Id="R87d95d98f9874e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153CB95-FFC6-4D7F-ACDD-BBAAB1BE86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070132-AC75-4BE1-BDF1-BAD1BADD0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58AA0E-9F31-4DA4-93F7-8056E203A92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766F35-0EEB-4F5C-A228-4AEEA7C410B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BCC109-A86A-4F40-963C-031C8939A31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e8b8e9f30c45f9"/>
    <p:sldLayoutId xmlns:r="http://schemas.openxmlformats.org/officeDocument/2006/relationships" id="2147483650" r:id="R704edd4dad234795"/>
    <p:sldLayoutId xmlns:r="http://schemas.openxmlformats.org/officeDocument/2006/relationships" id="2147483651" r:id="R99b587e82e3b4ae5"/>
    <p:sldLayoutId xmlns:r="http://schemas.openxmlformats.org/officeDocument/2006/relationships" id="2147483652" r:id="R7ec1b3d601994f34"/>
    <p:sldLayoutId xmlns:r="http://schemas.openxmlformats.org/officeDocument/2006/relationships" id="2147483653" r:id="Ra4db60576078433e"/>
    <p:sldLayoutId xmlns:r="http://schemas.openxmlformats.org/officeDocument/2006/relationships" id="2147483654" r:id="R06d6f0b821f548bb"/>
    <p:sldLayoutId xmlns:r="http://schemas.openxmlformats.org/officeDocument/2006/relationships" id="2147483655" r:id="R4a62402c1a834efd"/>
    <p:sldLayoutId xmlns:r="http://schemas.openxmlformats.org/officeDocument/2006/relationships" id="2147483656" r:id="R0162f98a8c264f91"/>
    <p:sldLayoutId xmlns:r="http://schemas.openxmlformats.org/officeDocument/2006/relationships" id="2147483657" r:id="R1cb30a7b7f52472a"/>
    <p:sldLayoutId xmlns:r="http://schemas.openxmlformats.org/officeDocument/2006/relationships" id="2147483658" r:id="Ra738997dcaed4a2a"/>
    <p:sldLayoutId xmlns:r="http://schemas.openxmlformats.org/officeDocument/2006/relationships" id="2147483659" r:id="R87d95d98f9874ecb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a6c6b78b4642f4" /><Relationship Type="http://schemas.openxmlformats.org/officeDocument/2006/relationships/image" Target="/ppt/media/image.jpeg" Id="Rd805be85270546d8" /><Relationship Type="http://schemas.openxmlformats.org/officeDocument/2006/relationships/image" Target="/ppt/media/image.svg" Id="Rd41108351d934a94" /><Relationship Type="http://schemas.openxmlformats.org/officeDocument/2006/relationships/notesSlide" Target="/ppt/notesSlides/notesSlide1.xml" Id="Rba8462fd9354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9915dcb57646c5" /><Relationship Type="http://schemas.openxmlformats.org/officeDocument/2006/relationships/image" Target="/ppt/media/image.jpeg" Id="R73c7a828930c4ade" /><Relationship Type="http://schemas.openxmlformats.org/officeDocument/2006/relationships/image" Target="/ppt/media/image.svg" Id="Rdfbfb649d3884f36" /><Relationship Type="http://schemas.openxmlformats.org/officeDocument/2006/relationships/notesSlide" Target="/ppt/notesSlides/notesSlide2.xml" Id="Rf9850b3978a9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68f71cc7ce4c53" /><Relationship Type="http://schemas.openxmlformats.org/officeDocument/2006/relationships/image" Target="/ppt/media/image.jpeg" Id="R3cb0c193b02a407f" /><Relationship Type="http://schemas.openxmlformats.org/officeDocument/2006/relationships/image" Target="/ppt/media/image.svg" Id="Re0d0af89ee044e00" /><Relationship Type="http://schemas.openxmlformats.org/officeDocument/2006/relationships/notesSlide" Target="/ppt/notesSlides/notesSlide3.xml" Id="R4821255557c74c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2b13f11c3b4980" /><Relationship Type="http://schemas.openxmlformats.org/officeDocument/2006/relationships/image" Target="/ppt/media/image.jpeg" Id="Rbad9f6c434c341c3" /><Relationship Type="http://schemas.openxmlformats.org/officeDocument/2006/relationships/image" Target="/ppt/media/image.svg" Id="Ra6ab100b5145448f" /><Relationship Type="http://schemas.openxmlformats.org/officeDocument/2006/relationships/notesSlide" Target="/ppt/notesSlides/notesSlide4.xml" Id="R8bf63f4c6e314b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bf4992f0e24a7a" /><Relationship Type="http://schemas.openxmlformats.org/officeDocument/2006/relationships/image" Target="/ppt/media/image.jpeg" Id="R93e3367cb22440f3" /><Relationship Type="http://schemas.openxmlformats.org/officeDocument/2006/relationships/image" Target="/ppt/media/image.svg" Id="R282d791353d44b56" /><Relationship Type="http://schemas.openxmlformats.org/officeDocument/2006/relationships/notesSlide" Target="/ppt/notesSlides/notesSlide5.xml" Id="Rd6fe2a38f903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67b1ac903f4dac" /><Relationship Type="http://schemas.openxmlformats.org/officeDocument/2006/relationships/image" Target="/ppt/media/image.jpeg" Id="R8259a0a6be384aff" /><Relationship Type="http://schemas.openxmlformats.org/officeDocument/2006/relationships/image" Target="/ppt/media/image.svg" Id="Rbed5edead0214a72" /><Relationship Type="http://schemas.openxmlformats.org/officeDocument/2006/relationships/notesSlide" Target="/ppt/notesSlides/notesSlide6.xml" Id="R004acd515c3e4c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7df0113f844ed4" /><Relationship Type="http://schemas.openxmlformats.org/officeDocument/2006/relationships/image" Target="/ppt/media/image.jpeg" Id="R419e579b39d441c3" /><Relationship Type="http://schemas.openxmlformats.org/officeDocument/2006/relationships/image" Target="/ppt/media/image.svg" Id="Ra5dd4f8a105b44cb" /><Relationship Type="http://schemas.openxmlformats.org/officeDocument/2006/relationships/image" Target="/ppt/media/image2.jpeg" Id="Rcb7d7c87edf64da1" /><Relationship Type="http://schemas.openxmlformats.org/officeDocument/2006/relationships/image" Target="/ppt/media/image3.jpeg" Id="R97b05491f6174e0a" /><Relationship Type="http://schemas.openxmlformats.org/officeDocument/2006/relationships/image" Target="/ppt/media/image4.jpeg" Id="R7fe3685b703e47d6" /><Relationship Type="http://schemas.openxmlformats.org/officeDocument/2006/relationships/notesSlide" Target="/ppt/notesSlides/notesSlide7.xml" Id="Ra31c38a5e32147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965d1fba0349f6" /><Relationship Type="http://schemas.openxmlformats.org/officeDocument/2006/relationships/image" Target="/ppt/media/image.jpeg" Id="Re7c3b1cdbd264410" /><Relationship Type="http://schemas.openxmlformats.org/officeDocument/2006/relationships/image" Target="/ppt/media/image.svg" Id="R5ebcb4b8f81544bf" /><Relationship Type="http://schemas.openxmlformats.org/officeDocument/2006/relationships/notesSlide" Target="/ppt/notesSlides/notesSlide8.xml" Id="R739be603f87d46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aabe2a901f4a7c" /><Relationship Type="http://schemas.openxmlformats.org/officeDocument/2006/relationships/image" Target="/ppt/media/image.jpeg" Id="R98f182d25f1f426f" /><Relationship Type="http://schemas.openxmlformats.org/officeDocument/2006/relationships/image" Target="/ppt/media/image.svg" Id="R7c176b890508415e" /><Relationship Type="http://schemas.openxmlformats.org/officeDocument/2006/relationships/notesSlide" Target="/ppt/notesSlides/notesSlide9.xml" Id="R54c179429d7b4f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53797e280643fe" /><Relationship Type="http://schemas.openxmlformats.org/officeDocument/2006/relationships/image" Target="/ppt/media/image.jpeg" Id="R603fec2aaa294181" /><Relationship Type="http://schemas.openxmlformats.org/officeDocument/2006/relationships/image" Target="/ppt/media/image.svg" Id="R8b1ea9a1e34b44ad" /><Relationship Type="http://schemas.openxmlformats.org/officeDocument/2006/relationships/notesSlide" Target="/ppt/notesSlides/notesSlide10.xml" Id="Rf4e5594332a44e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e4dfbf1b60453e" /><Relationship Type="http://schemas.openxmlformats.org/officeDocument/2006/relationships/image" Target="/ppt/media/image.jpeg" Id="R0266808ad37a428a" /><Relationship Type="http://schemas.openxmlformats.org/officeDocument/2006/relationships/image" Target="/ppt/media/image.svg" Id="Rb3fb1ea520bd495e" /><Relationship Type="http://schemas.openxmlformats.org/officeDocument/2006/relationships/notesSlide" Target="/ppt/notesSlides/notesSlide11.xml" Id="Rd402cef4edd94a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653722b2ef4499" /><Relationship Type="http://schemas.openxmlformats.org/officeDocument/2006/relationships/image" Target="/ppt/media/image.jpeg" Id="R930742ff8cd34d82" /><Relationship Type="http://schemas.openxmlformats.org/officeDocument/2006/relationships/image" Target="/ppt/media/image.svg" Id="Rb3d64773f8074124" /><Relationship Type="http://schemas.openxmlformats.org/officeDocument/2006/relationships/notesSlide" Target="/ppt/notesSlides/notesSlide12.xml" Id="Rad9fea194aed4f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069A69C-9F56-4518-BB16-3F4B043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706" y="4514765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4FD6E93-A909-47E2-8F49-116AAD8F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05be85270546d8">
              <a:extLst>
                <a:ext uri="{96DAC541-7B7A-43D3-8B79-37D633B846F1}">
                  <asvg:svgBlip xmlns:asvg="http://schemas.microsoft.com/office/drawing/2016/SVG/main" r:embed="Rd41108351d934a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1ABF1-5377-4A51-8B56-0CA01DD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82" y="4728792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SOLUȚIE NLP ON-PREMISES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B9BFE1D-7B3C-433C-8F68-9DD7A899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974" y="2332416"/>
            <a:ext cx="16408332" cy="2084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250"/>
              </a:lnSpc>
              <a:buNone/>
            </a:pPr>
            <a:r>
              <a:rPr sz="1675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FF0CE10-710C-4D06-BEEF-DA075FBB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8041005"/>
            <a:ext cx="7862435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3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Interviu Zetta</a:t>
            </a:r>
          </a:p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3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12 iunie 2026</a:t>
            </a:r>
          </a:p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3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Restaurare diacritice în română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CE4D25B-B02A-4DFE-996A-8F14A5F1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</p:spTree>
    <p:extLst>
      <p:ext uri="{BB962C8B-B14F-4D97-AF65-F5344CB8AC3E}">
        <p14:creationId xmlns:p14="http://schemas.microsoft.com/office/powerpoint/2010/main" val="263875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D5472E4-0A87-4438-AE04-AF265378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2615846"/>
            <a:ext cx="9509685" cy="699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65"/>
              </a:lnSpc>
              <a:buNone/>
            </a:pPr>
            <a:r>
              <a:rPr sz="60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Ambiguitatea cere context:</a:t>
            </a:r>
          </a:p>
          <a:p xmlns:a="http://schemas.openxmlformats.org/drawingml/2006/main">
            <a:pPr algn="l">
              <a:lnSpc>
                <a:spcPts val="7865"/>
              </a:lnSpc>
              <a:buNone/>
            </a:pPr>
            <a:r>
              <a:rPr sz="60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peste/pește, fata/fața/fată,</a:t>
            </a:r>
          </a:p>
          <a:p xmlns:a="http://schemas.openxmlformats.org/drawingml/2006/main">
            <a:pPr algn="l">
              <a:lnSpc>
                <a:spcPts val="7865"/>
              </a:lnSpc>
              <a:buNone/>
            </a:pPr>
            <a:r>
              <a:rPr sz="60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mana/mână.</a:t>
            </a:r>
          </a:p>
          <a:p xmlns:a="http://schemas.openxmlformats.org/drawingml/2006/main">
            <a:pPr algn="l">
              <a:lnSpc>
                <a:spcPts val="7865"/>
              </a:lnSpc>
              <a:buNone/>
            </a:pPr>
            <a:r>
              <a:rPr sz="60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/>
            </a:r>
          </a:p>
          <a:p xmlns:a="http://schemas.openxmlformats.org/drawingml/2006/main">
            <a:pPr algn="l">
              <a:lnSpc>
                <a:spcPts val="7865"/>
              </a:lnSpc>
              <a:buNone/>
            </a:pPr>
            <a:r>
              <a:rPr sz="60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Model contextual + reguli stricte:</a:t>
            </a:r>
          </a:p>
          <a:p xmlns:a="http://schemas.openxmlformats.org/drawingml/2006/main">
            <a:pPr algn="l">
              <a:lnSpc>
                <a:spcPts val="7865"/>
              </a:lnSpc>
              <a:buNone/>
            </a:pPr>
            <a:r>
              <a:rPr sz="60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nu rescriem textul.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CF175E6-1557-41A8-A92A-9A5E8A7C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c7a828930c4ade">
              <a:extLst>
                <a:ext uri="{96DAC541-7B7A-43D3-8B79-37D633B846F1}">
                  <asvg:svgBlip xmlns:asvg="http://schemas.microsoft.com/office/drawing/2016/SVG/main" r:embed="Rdfbfb649d3884f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2541580-E47C-4EC0-8B1C-F9CBC9B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</p:spTree>
    <p:extLst>
      <p:ext uri="{BB962C8B-B14F-4D97-AF65-F5344CB8AC3E}">
        <p14:creationId xmlns:p14="http://schemas.microsoft.com/office/powerpoint/2010/main" val="1264612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353BA01-3938-4617-B3D1-4052CA07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AGENDA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FE75752-0181-4D65-BF66-969612A2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695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5191B28-E76C-44B3-8850-C5B733A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689" y="2122290"/>
            <a:ext cx="7877184" cy="5318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Problemă și criterii</a:t>
            </a:r>
          </a:p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Date și cleaning conservator</a:t>
            </a:r>
          </a:p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Baseline-uri: dicționar și n-gram</a:t>
            </a:r>
          </a:p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Transformer lightweight</a:t>
            </a:r>
          </a:p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Safety constraint + fallback</a:t>
            </a:r>
          </a:p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Rezultate și benchmark CPU</a:t>
            </a:r>
          </a:p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Cazuri grele manuale</a:t>
            </a:r>
          </a:p>
          <a:p xmlns:a="http://schemas.openxmlformats.org/drawingml/2006/main">
            <a:pPr marL="604519" indent="-302260" algn="l">
              <a:lnSpc>
                <a:spcPts val="5235"/>
              </a:lnSpc>
              <a:buChar char="•"/>
            </a:pPr>
            <a:r>
              <a:rPr sz="27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Proces de development și AI journal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FC0092E-4D61-46BD-ACE8-D15DBEB7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b0c193b02a407f">
              <a:extLst>
                <a:ext uri="{96DAC541-7B7A-43D3-8B79-37D633B846F1}">
                  <asvg:svgBlip xmlns:asvg="http://schemas.microsoft.com/office/drawing/2016/SVG/main" r:embed="Re0d0af89ee044e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4E13666-6E2D-4F75-9307-BD248F8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</p:spTree>
    <p:extLst>
      <p:ext uri="{BB962C8B-B14F-4D97-AF65-F5344CB8AC3E}">
        <p14:creationId xmlns:p14="http://schemas.microsoft.com/office/powerpoint/2010/main" val="1825687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9AA43EB-FB35-4B4A-84B8-991E75D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ad9f6c434c341c3">
              <a:extLst>
                <a:ext uri="{96DAC541-7B7A-43D3-8B79-37D633B846F1}">
                  <asvg:svgBlip xmlns:asvg="http://schemas.microsoft.com/office/drawing/2016/SVG/main" r:embed="Ra6ab100b5145448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9F28BD6-3624-46E4-9583-F4553217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13C3C93-4E71-4FFF-B5CB-FA9020DD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2152970"/>
            <a:ext cx="16242893" cy="699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65"/>
              </a:lnSpc>
              <a:buNone/>
            </a:pPr>
            <a:r>
              <a:rPr sz="60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Am tratat task-ul ca machine translation: aceeași propoziție intră fără diacritice și iese cu diacritice. Am respins varianta pur pe caractere fiindcă nu poate decide semantic între forme corecte diferite. Constrângerea-cheie rămâne: output-ul trebuie să aibă exact același text de bază ca input-ul.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D74C1FB-4414-4443-BC84-7B09160B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PROBLEM UNDERSTANDING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7D1202C-79BD-49D6-B670-6076D2AC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695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0164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4384C8A-F47D-4550-85C6-044A775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e3367cb22440f3">
              <a:extLst>
                <a:ext uri="{96DAC541-7B7A-43D3-8B79-37D633B846F1}">
                  <asvg:svgBlip xmlns:asvg="http://schemas.microsoft.com/office/drawing/2016/SVG/main" r:embed="R282d791353d44b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28F3F10-72B6-47DD-9BA4-F50F771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695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D7ADA1A-1B0D-4034-84AB-CA60432D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79F7B02-862C-4418-B6F5-FFEEFC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DATA PREPARATION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FBB8EDE-8BA8-47D7-B99E-7EF02A8A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input corpus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7D92098-5162-4E4D-83B9-056C6214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8567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păstrate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41EE066-3288-4313-8BD6-E07B932F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2568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duplicate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B5B54C7-21C9-41D1-9C69-0600D1B2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6,646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83C32B-ABB0-4B51-9A2D-69A731D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6274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6,635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9B8D2F-FB20-405A-8BDB-50842E43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0276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11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1C605B-6089-4FCD-8220-FC8BA1B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6095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train / valid / test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F568603-BC5A-4F20-89C4-4E53F99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3802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5308 / 663 / 664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CF15F4-0391-4A7A-A93D-B63FA51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3523595"/>
            <a:ext cx="3773952" cy="2656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Perechi .gt.txt.bak -&gt; .gt.txt, împărțite la nivel de document ca să evităm leakage între train și test.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95A6277-27C1-41BA-A6B2-80776D82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6274" y="3523595"/>
            <a:ext cx="3772057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Cleaning conservator: normalizare ș/ț, eliminare linii goale, caractere corupte și mismatch-uri mari.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6EA4E2F-DC58-4B22-A6EB-FE4FAFCF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247" y="3523595"/>
            <a:ext cx="3772057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Am păstrat zgomotul OCR comun sursă-țintă; altfel problema devenea OCR correction, nu restaurare de diacritice.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40BC526-11EC-475B-B4FE-93F54B1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2219" y="3523595"/>
            <a:ext cx="3767081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Split reproductibil, manifest salvat și cleaning_report.txt generat pentru audit.</a:t>
            </a:r>
          </a:p>
        </p:txBody>
      </p:sp>
    </p:spTree>
    <p:extLst>
      <p:ext uri="{BB962C8B-B14F-4D97-AF65-F5344CB8AC3E}">
        <p14:creationId xmlns:p14="http://schemas.microsoft.com/office/powerpoint/2010/main" val="490463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371F8C7-A0A1-4D42-9E2E-F83D048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259a0a6be384aff">
              <a:extLst>
                <a:ext uri="{96DAC541-7B7A-43D3-8B79-37D633B846F1}">
                  <asvg:svgBlip xmlns:asvg="http://schemas.microsoft.com/office/drawing/2016/SVG/main" r:embed="Rbed5edead0214a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0CEB860-9BF1-4BE7-AC5F-09BC03F3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695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09372FE-3BF0-436F-8B41-198C9B25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5382ADE-865A-4262-A4E1-7B05024B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BASELINES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03D2591-D801-4F06-A893-DF6361F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2262784"/>
            <a:ext cx="5146395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Frequency dictionary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8259FA9-3C08-451E-933E-5AE635D5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2870320"/>
            <a:ext cx="5146395" cy="3314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Pentru fiecare formă fără diacritice aleg forma diacritizată cea mai frecventă din train.</a:t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Char acc: 0.9856</a:t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Word acc: 0.9423</a:t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Tiny: 0.453 MB</a:t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Limită: bias pe forma dominantă.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F244C2-F7D3-4038-BA5B-17548757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742" y="2262784"/>
            <a:ext cx="5146395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N-gram reranker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D1E2CFE-9EE0-4792-95B2-519FEFC5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742" y="2870320"/>
            <a:ext cx="5146395" cy="3647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Generează variante candidate și alege propoziția cu probabilitate LM mai bună.</a:t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Char acc: 0.9716</a:t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Word acc: 0.8908</a:t>
            </a:r>
          </a:p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Mai contextual, dar instabil pe corpus mic.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850465C-7A36-4E8A-9D52-110DDAA7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2262784"/>
            <a:ext cx="5146395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Decizie de producție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392B371-2E0B-4D90-95E2-B22BA85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2870320"/>
            <a:ext cx="5146395" cy="3647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Dicționarul a rămas fallback-ul implicit: simplu, rapid și mai bun empiric. N-gram-ul rămâne experiment util pentru analiză și reranking viitor.</a:t>
            </a:r>
          </a:p>
        </p:txBody>
      </p:sp>
    </p:spTree>
    <p:extLst>
      <p:ext uri="{BB962C8B-B14F-4D97-AF65-F5344CB8AC3E}">
        <p14:creationId xmlns:p14="http://schemas.microsoft.com/office/powerpoint/2010/main" val="1754950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2EBA766-088D-4A1F-837D-0C99D074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9e579b39d441c3">
              <a:extLst>
                <a:ext uri="{96DAC541-7B7A-43D3-8B79-37D633B846F1}">
                  <asvg:svgBlip xmlns:asvg="http://schemas.microsoft.com/office/drawing/2016/SVG/main" r:embed="Ra5dd4f8a105b44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97B1467-9006-4094-B2BC-9D50587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B4E3CBB-B601-4738-89FA-C596521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960963"/>
            <a:ext cx="3761659" cy="354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38"/>
              </a:lnSpc>
              <a:buNone/>
            </a:pPr>
            <a:r>
              <a:rPr sz="2899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Normalize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F73840C-C33F-43F4-87B6-378A374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6274" y="4960963"/>
            <a:ext cx="3761659" cy="354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38"/>
              </a:lnSpc>
              <a:buNone/>
            </a:pPr>
            <a:r>
              <a:rPr sz="2899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Encode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FE0F499-D94B-42AB-A257-817D09E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8458" y="4960963"/>
            <a:ext cx="3761659" cy="354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38"/>
              </a:lnSpc>
              <a:buNone/>
            </a:pPr>
            <a:r>
              <a:rPr sz="2899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Decode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1293F0-F6E3-4258-B5A0-AC58096C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7641" y="4960963"/>
            <a:ext cx="3761659" cy="354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38"/>
              </a:lnSpc>
              <a:buNone/>
            </a:pPr>
            <a:r>
              <a:rPr sz="2899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Validate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D8C98CD-21CF-4618-88A9-2062E317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INFERENCE PIPELINE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370EBB4-FAF0-4474-B49B-8176D821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695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3C164A-EF4E-40C5-951F-C1C9DB57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5324945"/>
            <a:ext cx="3773952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Text fără diacritice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97D1F1E-A7A9-476B-B31C-AFD81BE0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6274" y="5324945"/>
            <a:ext cx="3772057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SentencePiece BPE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D1A1DEF-A28D-45CC-90C1-38E3D1CF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247" y="5324945"/>
            <a:ext cx="3772057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Transformer mic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D9BAFAC-04D7-4253-B027-DA95C968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2219" y="5324945"/>
            <a:ext cx="3767081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Fallback sigur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CFFC578-AB55-4A7B-902E-E3BC624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5939625"/>
            <a:ext cx="3773952" cy="2656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Normalizez spațiile, encoding-ul și variantele ș/ț înainte de orice inferență.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8A50FB8-C770-4203-9223-81ADE6A7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6274" y="5939625"/>
            <a:ext cx="3772057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Tokenizer subword, vocab 4000 pentru modelul antrenat; 8000 în presetul recomandat.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AB22F2-2014-4C25-ACD0-6C15DAAE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247" y="5939625"/>
            <a:ext cx="3772057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Encoder-decoder: 3+3 layers, hidden 192, 4 heads, 3.94M parametri.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228249-A4AD-4BC4-B959-81DAF10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2219" y="5939625"/>
            <a:ext cx="3767081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Accept doar output valid; altfel dicționar, apoi identity pentru forme necunoscute.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A7532DF-1F1E-4D16-9F9E-5440B77C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832411"/>
            <a:ext cx="8824332" cy="1669217"/>
          </a:xfrm>
          <a:custGeom xmlns:a="http://schemas.openxmlformats.org/drawingml/2006/main">
            <a:rect l="l" t="t" r="r" b="b"/>
            <a:pathLst>
              <a:path w="4058845" h="767774">
                <a:moveTo>
                  <a:pt x="0" y="0"/>
                </a:moveTo>
                <a:lnTo>
                  <a:pt x="4058845" y="0"/>
                </a:lnTo>
                <a:lnTo>
                  <a:pt x="4058845" y="767774"/>
                </a:lnTo>
                <a:lnTo>
                  <a:pt x="0" y="767774"/>
                </a:lnTo>
                <a:close/>
              </a:path>
            </a:pathLst>
          </a:cu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FFED523-DF2B-4D4F-9718-F261DE12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770287"/>
            <a:ext cx="8824332" cy="17313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8580" tIns="68580" rIns="68580" bIns="68580" anchor="ctr"/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91CAC2C7-9F12-43B8-8BDF-D0AEBAEB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2179" y="2496927"/>
            <a:ext cx="6217121" cy="2223000"/>
          </a:xfrm>
          <a:custGeom xmlns:a="http://schemas.openxmlformats.org/drawingml/2006/main">
            <a:rect l="l" t="t" r="r" b="b"/>
            <a:pathLst>
              <a:path w="2859631" h="1022492">
                <a:moveTo>
                  <a:pt x="0" y="0"/>
                </a:moveTo>
                <a:lnTo>
                  <a:pt x="2859631" y="0"/>
                </a:lnTo>
                <a:lnTo>
                  <a:pt x="2859631" y="1022492"/>
                </a:lnTo>
                <a:lnTo>
                  <a:pt x="0" y="1022492"/>
                </a:lnTo>
                <a:close/>
              </a:path>
            </a:pathLst>
          </a:cu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6DFD6D-ECC8-4CE7-A036-FA60F33F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2179" y="2434803"/>
            <a:ext cx="6217121" cy="22851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8580" tIns="68580" rIns="68580" bIns="68580" anchor="ctr"/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</a:p>
        </p:txBody>
      </p:sp>
      <p:pic>
        <p:nvPicPr>
          <p:cNvPr id="24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e579b39d441c3"/>
          <a:srcRect xmlns:a="http://schemas.openxmlformats.org/drawingml/2006/main" l="0" t="30181" r="0" b="30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681739" y="2450622"/>
            <a:ext cx="3108620" cy="1849433"/>
          </a:xfrm>
          <a:prstGeom xmlns:a="http://schemas.openxmlformats.org/drawingml/2006/main" prst="rect">
            <a:avLst/>
          </a:prstGeom>
        </p:spPr>
      </p:pic>
      <p:pic>
        <p:nvPicPr>
          <p:cNvPr id="25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d7c87edf64da1"/>
          <a:srcRect xmlns:a="http://schemas.openxmlformats.org/drawingml/2006/main" l="0" t="1687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17457" y="2450622"/>
            <a:ext cx="3339476" cy="1849433"/>
          </a:xfrm>
          <a:prstGeom xmlns:a="http://schemas.openxmlformats.org/drawingml/2006/main" prst="rect">
            <a:avLst/>
          </a:prstGeom>
        </p:spPr>
      </p:pic>
      <p:pic>
        <p:nvPicPr>
          <p:cNvPr id="2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05491f6174e0a"/>
          <a:srcRect xmlns:a="http://schemas.openxmlformats.org/drawingml/2006/main" l="0" t="16877" r="0" b="168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37933" y="2030751"/>
            <a:ext cx="2282342" cy="2269305"/>
          </a:xfrm>
          <a:prstGeom xmlns:a="http://schemas.openxmlformats.org/drawingml/2006/main" prst="rect">
            <a:avLst/>
          </a:prstGeom>
        </p:spPr>
      </p:pic>
      <p:pic>
        <p:nvPicPr>
          <p:cNvPr id="27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3685b703e47d6"/>
          <a:srcRect xmlns:a="http://schemas.openxmlformats.org/drawingml/2006/main" l="0" t="19853" r="0" b="57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598134" y="2697501"/>
            <a:ext cx="5371480" cy="18041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09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B960F1D-ACAC-43B9-89A1-1438895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c3b1cdbd264410">
              <a:extLst>
                <a:ext uri="{96DAC541-7B7A-43D3-8B79-37D633B846F1}">
                  <asvg:svgBlip xmlns:asvg="http://schemas.microsoft.com/office/drawing/2016/SVG/main" r:embed="R5ebcb4b8f81544b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B7F0B-61FB-43AA-B311-9ED2BA8F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A0D6EF8-ACE3-449C-8C3A-DCF3C5EB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SAFETY LAYER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8131728-E722-4A87-81EC-6BB483C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7086597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ADB35B1-F5EC-41D2-A81F-88F010CE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4149648"/>
            <a:ext cx="3086100" cy="2146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Dacă baza a fost văzută în train, forma diacritizată trebuie să fie observată.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58FB8-DD48-4D56-9DD5-E93947FF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Lexicon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0628489-3E17-4BD2-A32B-7806508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2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B535C51-C2D3-4676-9DC9-3470890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4149648"/>
            <a:ext cx="3086100" cy="2870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Generez local, pe CPU, fără API cloud. Beam mic și lungime controlată.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ADE0B1-B1E7-4D77-A5EF-754538B2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Decode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B00AEE1-E3F0-41A4-A5D0-FE2A230F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0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98DC6A5-8FFB-4BB8-97ED-8E387B5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149648"/>
            <a:ext cx="3086100" cy="2146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remove_diacritics(output) trebuie să fie identic cu input-ul normalizat. Fără reformulări.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4CE8E53-8B4F-41D3-A20B-09946FB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Base check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5C78B3-F718-4823-B078-8C4CC7F3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1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2EA6F7-761F-47DD-84F1-A7B7F5C2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4149648"/>
            <a:ext cx="3086100" cy="3232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Respinge forme ca Răymond, Câsa, pără și revine la dictionary-first.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32CF452-5E92-49D6-A545-AD8C2C16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Fallback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DB1DFA1-5F3E-49D7-A0B7-A85CE25B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1603E76-0A96-43D7-858E-941BC1D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4149648"/>
            <a:ext cx="3086100" cy="2146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Output final valid: fără rewrite-uri, fără API cloud, cu fallback local.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A815AD8-8445-4A4C-AFA2-6BB14A5F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Final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533BA3-2C6C-4DA1-95AC-D875D2E8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4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3A9641D-49E1-4FCA-9B78-5AC30206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F76F8F7-419A-4845-9846-6625F5C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64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BDDB5DC-B75D-466B-81D1-A818499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CD0A86C-145C-4FDF-A8E3-AA9AABF9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7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61321B2-0F65-48D3-A1AD-34DB9B7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82D8C56-CC7F-483A-8A6C-E89CE418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0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3ACF34C-F061-40AC-A9CB-93E0D274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19D3DAF-BA09-4F98-981E-F8435050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96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6C3C7F4-3D1B-4E4A-98C1-5A8FEB0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A7CECF3-B39B-4AFD-BD0F-181D25D0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62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FF6D5E07-22FD-4E71-8347-E17111E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821239"/>
            <a:ext cx="1739640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705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4384C8A-F47D-4550-85C6-044A775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f182d25f1f426f">
              <a:extLst>
                <a:ext uri="{96DAC541-7B7A-43D3-8B79-37D633B846F1}">
                  <asvg:svgBlip xmlns:asvg="http://schemas.microsoft.com/office/drawing/2016/SVG/main" r:embed="R7c176b890508415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28F3F10-72B6-47DD-9BA4-F50F771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695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D7ADA1A-1B0D-4034-84AB-CA60432D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79F7B02-862C-4418-B6F5-FFEEFC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RESULTS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FBB8EDE-8BA8-47D7-B99E-7EF02A8A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char accuracy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7D92098-5162-4E4D-83B9-056C6214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8567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diacritic-pos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41EE066-3288-4313-8BD6-E07B932F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2568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violations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B5B54C7-21C9-41D1-9C69-0600D1B2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0.9856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83C32B-ABB0-4B51-9A2D-69A731D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6274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0.9548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9B8D2F-FB20-405A-8BDB-50842E43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0276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0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1C605B-6089-4FCD-8220-FC8BA1B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6095" y="2904602"/>
            <a:ext cx="3761659" cy="4373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76"/>
              </a:lnSpc>
              <a:buNone/>
            </a:pPr>
            <a:r>
              <a:rPr sz="36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CPU latency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F568603-BC5A-4F20-89C4-4E53F99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3802" y="2249028"/>
            <a:ext cx="3773952" cy="6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00"/>
              </a:lnSpc>
              <a:buNone/>
            </a:pPr>
            <a:r>
              <a:rPr sz="350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20 ms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CF15F4-0391-4A7A-A93D-B63FA51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3523595"/>
            <a:ext cx="3773952" cy="2656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Pipeline-ul hibrid egalează practic dicționarul la char accuracy, dar elimină violation rate-ul.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95A6277-27C1-41BA-A6B2-80776D82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6274" y="3523595"/>
            <a:ext cx="3772057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Sentence exact: 0.4714 vs 0.4669 la dicționar. Câștig mic, dar cu drum clar de îmbunătățire.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6EA4E2F-DC58-4B22-A6EB-FE4FAFCF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247" y="3523595"/>
            <a:ext cx="3772057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Model acceptat pe 182/664 test samples; fallback dictionary pe 480; identity pe 2.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40BC526-11EC-475B-B4FE-93F54B1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2219" y="3523595"/>
            <a:ext cx="3767081" cy="2192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Checkpoint 15.054 MB; n-gram 7.376 MB; dicționar 0.453 MB. Totul rulează local.</a:t>
            </a:r>
          </a:p>
        </p:txBody>
      </p:sp>
    </p:spTree>
    <p:extLst>
      <p:ext uri="{BB962C8B-B14F-4D97-AF65-F5344CB8AC3E}">
        <p14:creationId xmlns:p14="http://schemas.microsoft.com/office/powerpoint/2010/main" val="490463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CF536B5-9F98-4375-A653-46B43C84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3fec2aaa294181">
              <a:extLst>
                <a:ext uri="{96DAC541-7B7A-43D3-8B79-37D633B846F1}">
                  <asvg:svgBlip xmlns:asvg="http://schemas.microsoft.com/office/drawing/2016/SVG/main" r:embed="R8b1ea9a1e34b44a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C52DBC1-2D74-4263-A45F-F7FBFC31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695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E39ECA3-EA94-4889-9C94-9861938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B141427-BE0E-4EC8-B7CC-4328F08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HARD CASES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600631-DFE5-487E-8787-CFFF5A01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02505" y="2260635"/>
            <a:ext cx="11309601" cy="11309601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B2C30"/>
            </a:solidFill>
            <a:prstDash val="solid"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EF4EBC9-78D2-4085-BB13-91622263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70" y="3453444"/>
            <a:ext cx="9189050" cy="90565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5FE73BF-F58F-4177-A0B1-6AE53136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197" y="4535268"/>
            <a:ext cx="9000196" cy="9000196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B2C30"/>
            </a:solidFill>
            <a:prstDash val="solid"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FF92393-6E5A-4650-AAE9-3E01AF25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965" y="5484507"/>
            <a:ext cx="7312659" cy="720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23DFA0D-437B-4FCB-9173-C3CE3634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0382" y="7254536"/>
            <a:ext cx="6583826" cy="6583826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B2C30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989DC22-2167-4B75-9128-A4E4964B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7615" y="7948923"/>
            <a:ext cx="5349358" cy="5272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DD5201-1966-4B22-B709-0CB0640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1928" y="5138727"/>
            <a:ext cx="5120733" cy="1734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3659"/>
              </a:lnSpc>
              <a:buNone/>
            </a:pPr>
            <a:r>
              <a:rPr sz="8537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fata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C6CEE56-08A2-4F61-B062-EABF108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7792" y="8006126"/>
            <a:ext cx="5849007" cy="1734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3659"/>
              </a:lnSpc>
              <a:buNone/>
            </a:pPr>
            <a:r>
              <a:rPr sz="8537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mana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FDB822-5292-4BD9-8BB4-80F8C22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1928" y="2556681"/>
            <a:ext cx="5120733" cy="1734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3659"/>
              </a:lnSpc>
              <a:buNone/>
            </a:pPr>
            <a:r>
              <a:rPr sz="8537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peste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D36DEEA-A029-42D5-B6E3-BD19CA44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2262784"/>
            <a:ext cx="5146395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peste / pește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99DC71D-CC9F-4143-BBAB-BDEC9481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2870320"/>
            <a:ext cx="5146395" cy="13138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În «Am pus peste peste legume», prima apariție e substantiv, a doua prepoziție. Frecvența nu ajunge.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F8BA725-D7AF-4A66-BF11-BBBEE6CD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4552431"/>
            <a:ext cx="5146395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fata / fața / fată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B828B6-DA66-440A-8C8C-7B2766B1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5159968"/>
            <a:ext cx="5146395" cy="980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Necesită sintaxă și rol de frază: subiect vs locuțiune prepozițională.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6AE5B65-17FC-4CD1-9256-4EE961A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6508704"/>
            <a:ext cx="5146395" cy="49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mana / mână / mâna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BA93396-2CB6-429B-9168-29C97FC1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2905" y="7116240"/>
            <a:ext cx="5146395" cy="980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59"/>
              </a:lnSpc>
              <a:buNone/>
            </a:pPr>
            <a:r>
              <a:rPr sz="1899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Indefinit vs definit, plus acord adjectival: «mâna dreaptă» încă rămâne greu.</a:t>
            </a:r>
          </a:p>
        </p:txBody>
      </p:sp>
    </p:spTree>
    <p:extLst>
      <p:ext uri="{BB962C8B-B14F-4D97-AF65-F5344CB8AC3E}">
        <p14:creationId xmlns:p14="http://schemas.microsoft.com/office/powerpoint/2010/main" val="11297954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B960F1D-ACAC-43B9-89A1-1438895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266808ad37a428a">
              <a:extLst>
                <a:ext uri="{96DAC541-7B7A-43D3-8B79-37D633B846F1}">
                  <asvg:svgBlip xmlns:asvg="http://schemas.microsoft.com/office/drawing/2016/SVG/main" r:embed="Rb3fb1ea520bd495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B7F0B-61FB-43AA-B311-9ED2BA8F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A0D6EF8-ACE3-449C-8C3A-DCF3C5EB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942975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DEVELOPMENT PROCESS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8131728-E722-4A87-81EC-6BB483C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7086597" y="1760761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ADB35B1-F5EC-41D2-A81F-88F010CE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4149648"/>
            <a:ext cx="3086100" cy="2146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Training-ul small a rulat 20 epoci CPU: 254.945 secunde, best valid loss 1.3089.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58FB8-DD48-4D56-9DD5-E93947FF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Train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0628489-3E17-4BD2-A32B-7806508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3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B535C51-C2D3-4676-9DC9-3470890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71" y="4149648"/>
            <a:ext cx="3086100" cy="2870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Am inspectat perechile, zgomotul și ambiguitățile; split la nivel de document.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ADE0B1-B1E7-4D77-A5EF-754538B2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Explore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B00AEE1-E3F0-41A4-A5D0-FE2A230F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98DC6A5-8FFB-4BB8-97ED-8E387B5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149648"/>
            <a:ext cx="3086100" cy="2146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Dicționarul a fost surprinzător de puternic; n-gram-ul a părut promițător, dar a pierdut.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4CE8E53-8B4F-41D3-A20B-09946FB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Baseline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5C78B3-F718-4823-B078-8C4CC7F3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2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2EA6F7-761F-47DD-84F1-A7B7F5C2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4149648"/>
            <a:ext cx="3086100" cy="3232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Safety base-text + lexicon după ce modelul a produs rewrite-uri subtile.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32CF452-5E92-49D6-A545-AD8C2C16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Constrain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DB1DFA1-5F3E-49D7-A0B7-A85CE25B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4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1603E76-0A96-43D7-858E-941BC1D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4149648"/>
            <a:ext cx="3086100" cy="2146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buNone/>
            </a:pPr>
            <a:r>
              <a:rPr sz="18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Metrici automate, cazuri grele manuale, benchmark de viteză și dimensiune.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A815AD8-8445-4A4C-AFA2-6BB14A5F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3216198"/>
            <a:ext cx="2785647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80"/>
              </a:lnSpc>
              <a:buNone/>
            </a:pPr>
            <a:r>
              <a:rPr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</a:rPr>
              <a:t>Evaluate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533BA3-2C6C-4DA1-95AC-D875D2E8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3635298"/>
            <a:ext cx="2785647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5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3A9641D-49E1-4FCA-9B78-5AC30206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F76F8F7-419A-4845-9846-6625F5C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64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BDDB5DC-B75D-466B-81D1-A818499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CD0A86C-145C-4FDF-A8E3-AA9AABF9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7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61321B2-0F65-48D3-A1AD-34DB9B7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82D8C56-CC7F-483A-8A6C-E89CE418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0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3ACF34C-F061-40AC-A9CB-93E0D274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219D3DAF-BA09-4F98-981E-F8435050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96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6C3C7F4-3D1B-4E4A-98C1-5A8FEB0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2756663"/>
            <a:ext cx="138677" cy="138677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2B2C30"/>
          </a:solid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A7CECF3-B39B-4AFD-BD0F-181D25D0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6200" y="2771289"/>
            <a:ext cx="112675" cy="111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120"/>
              </a:lnSpc>
              <a:buNone/>
            </a:pP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FF6D5E07-22FD-4E71-8347-E17111E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821239"/>
            <a:ext cx="17396401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7056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766872D-C5D9-491C-B252-C9A13C9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706" y="4514765"/>
            <a:ext cx="16230594" cy="38509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2C30"/>
            </a:solidFill>
            <a:prstDash val="solid"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933748D-0AFE-4507-8E50-09C8502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1746" y="8616481"/>
            <a:ext cx="535737" cy="727544"/>
          </a:xfrm>
          <a:custGeom xmlns:a="http://schemas.openxmlformats.org/drawingml/2006/main"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0742ff8cd34d82">
              <a:extLst>
                <a:ext uri="{96DAC541-7B7A-43D3-8B79-37D633B846F1}">
                  <asvg:svgBlip xmlns:asvg="http://schemas.microsoft.com/office/drawing/2016/SVG/main" r:embed="Rb3d64773f8074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0A82EE8-ECEC-46D8-AA20-A8815104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882" y="4728792"/>
            <a:ext cx="162306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00"/>
              </a:lnSpc>
              <a:spcBef>
                <a:spcPts val="0"/>
              </a:spcBef>
              <a:buNone/>
            </a:pPr>
            <a:r>
              <a:rPr sz="371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</a:rPr>
              <a:t>ON-PREMISES · REPRODUCTIBIL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9B3197B-5B5F-4C93-93BF-C3192FF4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974" y="2332416"/>
            <a:ext cx="16408332" cy="2084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250"/>
              </a:lnSpc>
              <a:buNone/>
            </a:pPr>
            <a:r>
              <a:rPr sz="16758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Concluzie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5B70D58-CC73-44D0-AE09-BDB79248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07" y="8041005"/>
            <a:ext cx="7862435" cy="1303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3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Cod, model, rapoarte și benchmark-uri în workspace</a:t>
            </a:r>
          </a:p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300">
                <a:solidFill>
                  <a:srgbClr val="2B2C30"/>
                </a:solidFill>
                <a:latin typeface="Public Sans"/>
                <a:ea typeface="Public Sans"/>
                <a:cs typeface="Public Sans"/>
              </a:rPr>
              <a:t>Next: confidence scoring + recommended preset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71503B3-027D-4992-A2B8-92C36C3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0680" y="8630746"/>
            <a:ext cx="1682491" cy="713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7"/>
              </a:lnSpc>
              <a:buNone/>
            </a:pPr>
            <a:r>
              <a:rPr sz="298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</a:rPr>
              <a:t>Diacritice RO</a:t>
            </a:r>
          </a:p>
        </p:txBody>
      </p:sp>
    </p:spTree>
    <p:extLst>
      <p:ext uri="{BB962C8B-B14F-4D97-AF65-F5344CB8AC3E}">
        <p14:creationId xmlns:p14="http://schemas.microsoft.com/office/powerpoint/2010/main" val="21355575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2026-06-12T05:00:52.4260000Z</dcterms:created>
  <dcterms:modified xsi:type="dcterms:W3CDTF">2026-06-12T05:00:52.4260000Z</dcterms:modified>
</coreProperties>
</file>